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65" r:id="rId2"/>
    <p:sldId id="264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C3BF9F-6743-432B-AF19-67507792068A}" v="73" dt="2026-05-04T16:58:06.6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673" autoAdjust="0"/>
  </p:normalViewPr>
  <p:slideViewPr>
    <p:cSldViewPr snapToGrid="0">
      <p:cViewPr varScale="1">
        <p:scale>
          <a:sx n="74" d="100"/>
          <a:sy n="74" d="100"/>
        </p:scale>
        <p:origin x="10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CD952-7E20-0A8C-5669-DC270408F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884F64-7C8D-4EAF-0734-A1E74B96C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C6B55-2D9F-525A-50FF-FF36D659D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8E464-520E-4947-BE0F-AC38FCA7EC7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7C9D8-DA8F-2A92-F612-410A7DE1D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17879-D7F2-B7E3-248B-2A11D4E96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0A89B-7D6E-4DDF-A00B-C5EAEA8C9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4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5B253-D1A4-19A7-65E3-2EB2CCF1A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F4455-CB48-6D3A-0600-EF7BEBBCF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4E89D-59CA-692C-0F41-0DC96DAA4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8E464-520E-4947-BE0F-AC38FCA7EC7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19C82-75BC-7A89-F095-4C5C4D86D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5206E-BC22-B486-E790-AF7752E09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0A89B-7D6E-4DDF-A00B-C5EAEA8C9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471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A2122-8F78-BF22-4A2E-568B770A7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BA1C-8419-CC6B-71D1-9D1A53DD9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E867-0FC1-A5E8-65D8-E11258EF4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8E464-520E-4947-BE0F-AC38FCA7EC7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72B1B-7D6E-10A5-D4D2-75E493E73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5D9AE-FB99-8206-68E6-D4CC2EBD5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0A89B-7D6E-4DDF-A00B-C5EAEA8C9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470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1990D-7F22-4473-944E-90DDC5933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D9429-928E-43A3-475D-DD36F622D1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6CFE85-338A-7241-A6E9-F82C065E3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4BF2BA-D6C6-EA5A-20B9-3CC5BB970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8E464-520E-4947-BE0F-AC38FCA7EC7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7E3E8-6D63-04F2-8DBC-7277BE4A5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913B5-FABA-D4D6-E4CD-8FD08A167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0A89B-7D6E-4DDF-A00B-C5EAEA8C9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52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9AEA3-4B3B-D921-B446-510E8A0EE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7C14A-59DA-98A2-2A22-DCB116C42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A7708-21AE-2E32-7413-579C14A36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900CAE-3294-9939-4BCC-6A4E62C32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4C6D85-4019-DFF4-8BE5-BE05A76A4E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F83BB5-8966-02CE-0750-2A740B8BD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8E464-520E-4947-BE0F-AC38FCA7EC7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2593CA-4DF9-F326-9008-1166560D7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FC0C9D-383A-51FC-4684-E4747FBA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0A89B-7D6E-4DDF-A00B-C5EAEA8C9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487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FDC57-22ED-927B-E0BA-8834BA1D2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1E7699-F3A3-CDED-D900-C33A45F8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8E464-520E-4947-BE0F-AC38FCA7EC7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0C524-A136-C379-AEFE-D356171A6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17CF3-F9AD-BF20-31ED-9BA69322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0A89B-7D6E-4DDF-A00B-C5EAEA8C9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776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5D4ACE-B980-6133-1F59-37CF37916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8E464-520E-4947-BE0F-AC38FCA7EC7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93B237-F79F-CCB4-3981-6AA5CD797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5A2FA-B602-6AB5-AD32-B7120581A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0A89B-7D6E-4DDF-A00B-C5EAEA8C9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646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D7474-21E1-5AB0-7182-8E1C01151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52BE-EF59-2B7B-20FD-AC716757B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70372-8024-CEF9-1D9B-77432E4CC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EABB9-9AA8-B9F4-F11D-A1DF6BDA8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8E464-520E-4947-BE0F-AC38FCA7EC7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FA3AF-3B1C-158A-C1AC-9A0BF1D5E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CE89F-594F-714F-EACE-3F09AE327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0A89B-7D6E-4DDF-A00B-C5EAEA8C9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337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C0FD1-5ECC-A35B-1FDA-CBD4E1196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F28BFC-2414-4CF0-E527-BB88250354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73866-F9EF-3E11-1079-444D44A15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75A87-5757-190C-78B0-42786C300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8E464-520E-4947-BE0F-AC38FCA7EC7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920D7-F19F-59FE-F96C-51A2E5A9B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A6D07-0DD9-F390-9278-DDA23BD8B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0A89B-7D6E-4DDF-A00B-C5EAEA8C9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923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EDCE2-0F0A-C833-7720-D3E90E305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1C1EC-FCE3-C5DD-2E55-120FBBADD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8EA70-A7C8-DEA5-2B11-E6F0B6312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8E464-520E-4947-BE0F-AC38FCA7EC7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9EE52-7C13-088D-3942-C79822345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BC9F3-87B3-36CD-0A4B-63500E7C5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0A89B-7D6E-4DDF-A00B-C5EAEA8C9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90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0C66F0-E28C-1A48-7636-F58C290498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A0F623-1E0C-FA2C-C773-A5BB1A96C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2DFDB-F311-7649-1EAF-BC9DAC52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8E464-520E-4947-BE0F-AC38FCA7EC7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E0AE4-3AB2-E5E7-1579-2DB10CC05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ABB97-6768-77DC-F46B-FD7ECD754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0A89B-7D6E-4DDF-A00B-C5EAEA8C9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296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359D3F-3C4C-7D04-C93A-7FD69BBE0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02A16-1E64-4E11-B5D7-6E2F8E485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9AF46-4AB1-A678-5DB6-E31A54D962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8E464-520E-4947-BE0F-AC38FCA7EC7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D0A7B-7AE4-EE27-ABB9-1BB1F7247B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18C25-BDA3-2F7A-2908-134DE7AC68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0A89B-7D6E-4DDF-A00B-C5EAEA8C9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254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arankrtech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D5842-02C9-251B-37D5-87AF3B6D2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alf Frame 5">
            <a:extLst>
              <a:ext uri="{FF2B5EF4-FFF2-40B4-BE49-F238E27FC236}">
                <a16:creationId xmlns:a16="http://schemas.microsoft.com/office/drawing/2014/main" id="{948119FF-EAD2-B521-F1C3-479CD514097D}"/>
              </a:ext>
            </a:extLst>
          </p:cNvPr>
          <p:cNvSpPr/>
          <p:nvPr/>
        </p:nvSpPr>
        <p:spPr>
          <a:xfrm>
            <a:off x="-1" y="0"/>
            <a:ext cx="6695769" cy="4031226"/>
          </a:xfrm>
          <a:prstGeom prst="halfFrame">
            <a:avLst>
              <a:gd name="adj1" fmla="val 4622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92DCE868-FD3C-2C8E-985C-F73C577350D2}"/>
              </a:ext>
            </a:extLst>
          </p:cNvPr>
          <p:cNvSpPr/>
          <p:nvPr/>
        </p:nvSpPr>
        <p:spPr>
          <a:xfrm rot="16200000">
            <a:off x="1334730" y="1703435"/>
            <a:ext cx="3819833" cy="6489292"/>
          </a:xfrm>
          <a:prstGeom prst="halfFrame">
            <a:avLst>
              <a:gd name="adj1" fmla="val 5439"/>
              <a:gd name="adj2" fmla="val 594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1F112B28-07F5-CD2A-A32D-5D31370DF7F6}"/>
              </a:ext>
            </a:extLst>
          </p:cNvPr>
          <p:cNvSpPr/>
          <p:nvPr/>
        </p:nvSpPr>
        <p:spPr>
          <a:xfrm rot="10800000">
            <a:off x="5781368" y="2826774"/>
            <a:ext cx="6410632" cy="4031226"/>
          </a:xfrm>
          <a:prstGeom prst="halfFrame">
            <a:avLst>
              <a:gd name="adj1" fmla="val 5354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>
            <a:extLst>
              <a:ext uri="{FF2B5EF4-FFF2-40B4-BE49-F238E27FC236}">
                <a16:creationId xmlns:a16="http://schemas.microsoft.com/office/drawing/2014/main" id="{D1391B8E-9137-4302-9FE1-1FD562F1E41C}"/>
              </a:ext>
            </a:extLst>
          </p:cNvPr>
          <p:cNvSpPr/>
          <p:nvPr/>
        </p:nvSpPr>
        <p:spPr>
          <a:xfrm rot="5400000">
            <a:off x="7350842" y="-1412155"/>
            <a:ext cx="3429001" cy="6253317"/>
          </a:xfrm>
          <a:prstGeom prst="halfFrame">
            <a:avLst>
              <a:gd name="adj1" fmla="val 6056"/>
              <a:gd name="adj2" fmla="val 604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CE78B3-E998-0362-6FE9-47E2AE26397B}"/>
              </a:ext>
            </a:extLst>
          </p:cNvPr>
          <p:cNvSpPr txBox="1"/>
          <p:nvPr/>
        </p:nvSpPr>
        <p:spPr>
          <a:xfrm>
            <a:off x="1111045" y="308483"/>
            <a:ext cx="10415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4719C1-B0CF-3627-2FC2-1E87A60F27F3}"/>
              </a:ext>
            </a:extLst>
          </p:cNvPr>
          <p:cNvSpPr txBox="1"/>
          <p:nvPr/>
        </p:nvSpPr>
        <p:spPr>
          <a:xfrm>
            <a:off x="597364" y="835371"/>
            <a:ext cx="111710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Arial Black" panose="020B0A04020102020204" pitchFamily="34" charset="0"/>
              </a:rPr>
              <a:t>TITLE : </a:t>
            </a:r>
            <a:r>
              <a:rPr lang="en-US" sz="2800" dirty="0">
                <a:latin typeface="Arial Black" panose="020B0A04020102020204" pitchFamily="34" charset="0"/>
              </a:rPr>
              <a:t>CUSTOMER SHOPPING BEHAVIOR ANALYSIS</a:t>
            </a:r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A8AB0FBA-D3A3-66C1-C249-6ADC80A8A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119" y="1358591"/>
            <a:ext cx="3590728" cy="51909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A8E36E-BD42-D693-1E44-DB0340F89AD6}"/>
              </a:ext>
            </a:extLst>
          </p:cNvPr>
          <p:cNvSpPr txBox="1"/>
          <p:nvPr/>
        </p:nvSpPr>
        <p:spPr>
          <a:xfrm>
            <a:off x="534103" y="2739338"/>
            <a:ext cx="7582541" cy="81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Uncovering insights from 3,900 purchases to guide strategic business decisions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32E379-21A9-E2B9-644F-211F8D29A9E1}"/>
              </a:ext>
            </a:extLst>
          </p:cNvPr>
          <p:cNvSpPr txBox="1"/>
          <p:nvPr/>
        </p:nvSpPr>
        <p:spPr>
          <a:xfrm>
            <a:off x="789709" y="4322618"/>
            <a:ext cx="5148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By: karan kumar</a:t>
            </a:r>
          </a:p>
          <a:p>
            <a:r>
              <a:rPr lang="en-IN" dirty="0">
                <a:hlinkClick r:id="rId3"/>
              </a:rPr>
              <a:t>karankrtech@gmail.com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6129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75DCC-AD92-4128-E1A2-DE97B6955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alf Frame 5">
            <a:extLst>
              <a:ext uri="{FF2B5EF4-FFF2-40B4-BE49-F238E27FC236}">
                <a16:creationId xmlns:a16="http://schemas.microsoft.com/office/drawing/2014/main" id="{2E6E09F3-EE30-1AAC-C8C1-4EE022922E30}"/>
              </a:ext>
            </a:extLst>
          </p:cNvPr>
          <p:cNvSpPr/>
          <p:nvPr/>
        </p:nvSpPr>
        <p:spPr>
          <a:xfrm>
            <a:off x="-1" y="0"/>
            <a:ext cx="6695769" cy="4031226"/>
          </a:xfrm>
          <a:prstGeom prst="halfFrame">
            <a:avLst>
              <a:gd name="adj1" fmla="val 4622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22E35EFB-8C5F-FFBF-C108-EE2607F8F772}"/>
              </a:ext>
            </a:extLst>
          </p:cNvPr>
          <p:cNvSpPr/>
          <p:nvPr/>
        </p:nvSpPr>
        <p:spPr>
          <a:xfrm rot="16200000">
            <a:off x="1334730" y="1703435"/>
            <a:ext cx="3819833" cy="6489292"/>
          </a:xfrm>
          <a:prstGeom prst="halfFrame">
            <a:avLst>
              <a:gd name="adj1" fmla="val 5439"/>
              <a:gd name="adj2" fmla="val 594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2E3A9726-262B-E295-2537-B29EE5A2874B}"/>
              </a:ext>
            </a:extLst>
          </p:cNvPr>
          <p:cNvSpPr/>
          <p:nvPr/>
        </p:nvSpPr>
        <p:spPr>
          <a:xfrm rot="10800000">
            <a:off x="5781368" y="2826774"/>
            <a:ext cx="6410632" cy="4031226"/>
          </a:xfrm>
          <a:prstGeom prst="halfFrame">
            <a:avLst>
              <a:gd name="adj1" fmla="val 5354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>
            <a:extLst>
              <a:ext uri="{FF2B5EF4-FFF2-40B4-BE49-F238E27FC236}">
                <a16:creationId xmlns:a16="http://schemas.microsoft.com/office/drawing/2014/main" id="{CC95C999-09C3-A574-EAC6-45E596E4DD91}"/>
              </a:ext>
            </a:extLst>
          </p:cNvPr>
          <p:cNvSpPr/>
          <p:nvPr/>
        </p:nvSpPr>
        <p:spPr>
          <a:xfrm rot="5400000">
            <a:off x="7350842" y="-1412155"/>
            <a:ext cx="3429001" cy="6253317"/>
          </a:xfrm>
          <a:prstGeom prst="halfFrame">
            <a:avLst>
              <a:gd name="adj1" fmla="val 6056"/>
              <a:gd name="adj2" fmla="val 604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488A41-B93D-043E-E797-612B885ACA8F}"/>
              </a:ext>
            </a:extLst>
          </p:cNvPr>
          <p:cNvSpPr txBox="1"/>
          <p:nvPr/>
        </p:nvSpPr>
        <p:spPr>
          <a:xfrm>
            <a:off x="1111045" y="308483"/>
            <a:ext cx="10415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881492-4C16-A6DE-49E1-0E3558444242}"/>
              </a:ext>
            </a:extLst>
          </p:cNvPr>
          <p:cNvSpPr txBox="1"/>
          <p:nvPr/>
        </p:nvSpPr>
        <p:spPr>
          <a:xfrm>
            <a:off x="758816" y="1397640"/>
            <a:ext cx="609426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customer buying behavior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high-value customers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revenue using data insights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marketing strategy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B220EE-8508-811F-BA86-C7E7BA95F658}"/>
              </a:ext>
            </a:extLst>
          </p:cNvPr>
          <p:cNvSpPr txBox="1"/>
          <p:nvPr/>
        </p:nvSpPr>
        <p:spPr>
          <a:xfrm>
            <a:off x="477730" y="708590"/>
            <a:ext cx="89156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 </a:t>
            </a:r>
            <a:r>
              <a:rPr lang="en-US" sz="3200" b="1" dirty="0">
                <a:latin typeface="Arial Black" panose="020B0A04020102020204" pitchFamily="34" charset="0"/>
              </a:rPr>
              <a:t>BUSINESS 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877662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C58F4-7934-B8FE-2310-EA7619AD6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alf Frame 5">
            <a:extLst>
              <a:ext uri="{FF2B5EF4-FFF2-40B4-BE49-F238E27FC236}">
                <a16:creationId xmlns:a16="http://schemas.microsoft.com/office/drawing/2014/main" id="{821F4908-D106-7164-C33F-FF7455144998}"/>
              </a:ext>
            </a:extLst>
          </p:cNvPr>
          <p:cNvSpPr/>
          <p:nvPr/>
        </p:nvSpPr>
        <p:spPr>
          <a:xfrm>
            <a:off x="-1" y="0"/>
            <a:ext cx="6695769" cy="4031226"/>
          </a:xfrm>
          <a:prstGeom prst="halfFrame">
            <a:avLst>
              <a:gd name="adj1" fmla="val 4622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B2A3899C-9CDE-A478-1D07-8EE9A7A126FE}"/>
              </a:ext>
            </a:extLst>
          </p:cNvPr>
          <p:cNvSpPr/>
          <p:nvPr/>
        </p:nvSpPr>
        <p:spPr>
          <a:xfrm rot="16200000">
            <a:off x="1334730" y="1703435"/>
            <a:ext cx="3819833" cy="6489292"/>
          </a:xfrm>
          <a:prstGeom prst="halfFrame">
            <a:avLst>
              <a:gd name="adj1" fmla="val 5439"/>
              <a:gd name="adj2" fmla="val 594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86B97E39-414F-C65C-6DCE-51C79A967C6C}"/>
              </a:ext>
            </a:extLst>
          </p:cNvPr>
          <p:cNvSpPr/>
          <p:nvPr/>
        </p:nvSpPr>
        <p:spPr>
          <a:xfrm rot="10800000">
            <a:off x="5781368" y="2826774"/>
            <a:ext cx="6410632" cy="4031226"/>
          </a:xfrm>
          <a:prstGeom prst="halfFrame">
            <a:avLst>
              <a:gd name="adj1" fmla="val 5354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>
            <a:extLst>
              <a:ext uri="{FF2B5EF4-FFF2-40B4-BE49-F238E27FC236}">
                <a16:creationId xmlns:a16="http://schemas.microsoft.com/office/drawing/2014/main" id="{0177078B-4F11-D02C-BE63-9072E3EE05B5}"/>
              </a:ext>
            </a:extLst>
          </p:cNvPr>
          <p:cNvSpPr/>
          <p:nvPr/>
        </p:nvSpPr>
        <p:spPr>
          <a:xfrm rot="5400000">
            <a:off x="7350842" y="-1412155"/>
            <a:ext cx="3429001" cy="6253317"/>
          </a:xfrm>
          <a:prstGeom prst="halfFrame">
            <a:avLst>
              <a:gd name="adj1" fmla="val 6056"/>
              <a:gd name="adj2" fmla="val 604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6C40BD-76BC-E087-DE14-3DC54CB8997A}"/>
              </a:ext>
            </a:extLst>
          </p:cNvPr>
          <p:cNvSpPr txBox="1"/>
          <p:nvPr/>
        </p:nvSpPr>
        <p:spPr>
          <a:xfrm>
            <a:off x="352509" y="463369"/>
            <a:ext cx="10415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200" b="1" dirty="0">
                <a:latin typeface="Arial Black" panose="020B0A04020102020204" pitchFamily="34" charset="0"/>
              </a:rPr>
              <a:t>DATASET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D06699-EE0E-83D9-2FD8-D83FE496F1D3}"/>
              </a:ext>
            </a:extLst>
          </p:cNvPr>
          <p:cNvSpPr txBox="1"/>
          <p:nvPr/>
        </p:nvSpPr>
        <p:spPr>
          <a:xfrm>
            <a:off x="833871" y="1259534"/>
            <a:ext cx="6094268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Purchases: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3,900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Columns: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 (Review Rating)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Includes: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demographics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behavior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details</a:t>
            </a:r>
          </a:p>
        </p:txBody>
      </p:sp>
    </p:spTree>
    <p:extLst>
      <p:ext uri="{BB962C8B-B14F-4D97-AF65-F5344CB8AC3E}">
        <p14:creationId xmlns:p14="http://schemas.microsoft.com/office/powerpoint/2010/main" val="601622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16845-18E9-1527-791E-D02C26EBB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alf Frame 5">
            <a:extLst>
              <a:ext uri="{FF2B5EF4-FFF2-40B4-BE49-F238E27FC236}">
                <a16:creationId xmlns:a16="http://schemas.microsoft.com/office/drawing/2014/main" id="{0ED77ED4-CE8B-758F-1D7C-B2D252217467}"/>
              </a:ext>
            </a:extLst>
          </p:cNvPr>
          <p:cNvSpPr/>
          <p:nvPr/>
        </p:nvSpPr>
        <p:spPr>
          <a:xfrm>
            <a:off x="-1" y="0"/>
            <a:ext cx="6695769" cy="4031226"/>
          </a:xfrm>
          <a:prstGeom prst="halfFrame">
            <a:avLst>
              <a:gd name="adj1" fmla="val 4622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F1AC9258-F5CA-4C31-B9BB-C557259F9A01}"/>
              </a:ext>
            </a:extLst>
          </p:cNvPr>
          <p:cNvSpPr/>
          <p:nvPr/>
        </p:nvSpPr>
        <p:spPr>
          <a:xfrm rot="16200000">
            <a:off x="1334730" y="1703435"/>
            <a:ext cx="3819833" cy="6489292"/>
          </a:xfrm>
          <a:prstGeom prst="halfFrame">
            <a:avLst>
              <a:gd name="adj1" fmla="val 5439"/>
              <a:gd name="adj2" fmla="val 594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414DEEF8-4757-6423-F256-81ED8DCDB054}"/>
              </a:ext>
            </a:extLst>
          </p:cNvPr>
          <p:cNvSpPr/>
          <p:nvPr/>
        </p:nvSpPr>
        <p:spPr>
          <a:xfrm rot="10800000">
            <a:off x="5781368" y="2826774"/>
            <a:ext cx="6410632" cy="4031226"/>
          </a:xfrm>
          <a:prstGeom prst="halfFrame">
            <a:avLst>
              <a:gd name="adj1" fmla="val 5354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>
            <a:extLst>
              <a:ext uri="{FF2B5EF4-FFF2-40B4-BE49-F238E27FC236}">
                <a16:creationId xmlns:a16="http://schemas.microsoft.com/office/drawing/2014/main" id="{8D8DB805-D0CD-8918-F0DC-13DF581D46C8}"/>
              </a:ext>
            </a:extLst>
          </p:cNvPr>
          <p:cNvSpPr/>
          <p:nvPr/>
        </p:nvSpPr>
        <p:spPr>
          <a:xfrm rot="5400000">
            <a:off x="7350842" y="-1412155"/>
            <a:ext cx="3429001" cy="6253317"/>
          </a:xfrm>
          <a:prstGeom prst="halfFrame">
            <a:avLst>
              <a:gd name="adj1" fmla="val 6056"/>
              <a:gd name="adj2" fmla="val 604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5C5ADF-9215-7CCC-FBB0-09F534FFB981}"/>
              </a:ext>
            </a:extLst>
          </p:cNvPr>
          <p:cNvSpPr txBox="1"/>
          <p:nvPr/>
        </p:nvSpPr>
        <p:spPr>
          <a:xfrm>
            <a:off x="1111045" y="308483"/>
            <a:ext cx="10415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EC63C8-CFEC-3F9B-7F86-4ADBDB83EAF0}"/>
              </a:ext>
            </a:extLst>
          </p:cNvPr>
          <p:cNvSpPr txBox="1"/>
          <p:nvPr/>
        </p:nvSpPr>
        <p:spPr>
          <a:xfrm>
            <a:off x="601500" y="1657970"/>
            <a:ext cx="609426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loaded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exploration (shape, info, stats)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handled (median)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groups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frequency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194E4D-CA7B-F938-7F02-BD6438136343}"/>
              </a:ext>
            </a:extLst>
          </p:cNvPr>
          <p:cNvSpPr txBox="1"/>
          <p:nvPr/>
        </p:nvSpPr>
        <p:spPr>
          <a:xfrm>
            <a:off x="446074" y="861805"/>
            <a:ext cx="94248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 Black" panose="020B0A04020102020204" pitchFamily="34" charset="0"/>
              </a:rPr>
              <a:t>DATA PREPARATION (PYTHON)</a:t>
            </a:r>
          </a:p>
        </p:txBody>
      </p:sp>
    </p:spTree>
    <p:extLst>
      <p:ext uri="{BB962C8B-B14F-4D97-AF65-F5344CB8AC3E}">
        <p14:creationId xmlns:p14="http://schemas.microsoft.com/office/powerpoint/2010/main" val="3783647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8B999-31CD-6CEE-7202-E00540F8B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alf Frame 5">
            <a:extLst>
              <a:ext uri="{FF2B5EF4-FFF2-40B4-BE49-F238E27FC236}">
                <a16:creationId xmlns:a16="http://schemas.microsoft.com/office/drawing/2014/main" id="{F69E5EA1-8053-365C-161F-87731524F9F1}"/>
              </a:ext>
            </a:extLst>
          </p:cNvPr>
          <p:cNvSpPr/>
          <p:nvPr/>
        </p:nvSpPr>
        <p:spPr>
          <a:xfrm>
            <a:off x="-1" y="0"/>
            <a:ext cx="6695769" cy="4031226"/>
          </a:xfrm>
          <a:prstGeom prst="halfFrame">
            <a:avLst>
              <a:gd name="adj1" fmla="val 4622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4C552879-0318-14D0-456D-D030B5DCF17A}"/>
              </a:ext>
            </a:extLst>
          </p:cNvPr>
          <p:cNvSpPr/>
          <p:nvPr/>
        </p:nvSpPr>
        <p:spPr>
          <a:xfrm rot="16200000">
            <a:off x="1334730" y="1703435"/>
            <a:ext cx="3819833" cy="6489292"/>
          </a:xfrm>
          <a:prstGeom prst="halfFrame">
            <a:avLst>
              <a:gd name="adj1" fmla="val 5439"/>
              <a:gd name="adj2" fmla="val 594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29A2BC5E-8A06-C87E-C873-F3AAD8BBA055}"/>
              </a:ext>
            </a:extLst>
          </p:cNvPr>
          <p:cNvSpPr/>
          <p:nvPr/>
        </p:nvSpPr>
        <p:spPr>
          <a:xfrm rot="10800000">
            <a:off x="5781368" y="2826774"/>
            <a:ext cx="6410632" cy="4031226"/>
          </a:xfrm>
          <a:prstGeom prst="halfFrame">
            <a:avLst>
              <a:gd name="adj1" fmla="val 5354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>
            <a:extLst>
              <a:ext uri="{FF2B5EF4-FFF2-40B4-BE49-F238E27FC236}">
                <a16:creationId xmlns:a16="http://schemas.microsoft.com/office/drawing/2014/main" id="{85737052-31C9-34F1-FF3A-8021B742D539}"/>
              </a:ext>
            </a:extLst>
          </p:cNvPr>
          <p:cNvSpPr/>
          <p:nvPr/>
        </p:nvSpPr>
        <p:spPr>
          <a:xfrm rot="5400000">
            <a:off x="7350842" y="-1412155"/>
            <a:ext cx="3429001" cy="6253317"/>
          </a:xfrm>
          <a:prstGeom prst="halfFrame">
            <a:avLst>
              <a:gd name="adj1" fmla="val 6056"/>
              <a:gd name="adj2" fmla="val 604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FFE67D-B682-FFA0-8834-C52B37C45155}"/>
              </a:ext>
            </a:extLst>
          </p:cNvPr>
          <p:cNvSpPr txBox="1"/>
          <p:nvPr/>
        </p:nvSpPr>
        <p:spPr>
          <a:xfrm>
            <a:off x="477199" y="553676"/>
            <a:ext cx="10415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3200" b="1" dirty="0">
                <a:latin typeface="Arial Black" panose="020B0A04020102020204" pitchFamily="34" charset="0"/>
              </a:rPr>
              <a:t>DATA STORAGE &amp; SQL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7AB116-BA3D-44E7-8F7C-3C754624242F}"/>
              </a:ext>
            </a:extLst>
          </p:cNvPr>
          <p:cNvSpPr txBox="1"/>
          <p:nvPr/>
        </p:nvSpPr>
        <p:spPr>
          <a:xfrm>
            <a:off x="758816" y="1491964"/>
            <a:ext cx="609426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stored 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/ SQL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 used for: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analysis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performance </a:t>
            </a:r>
          </a:p>
        </p:txBody>
      </p:sp>
    </p:spTree>
    <p:extLst>
      <p:ext uri="{BB962C8B-B14F-4D97-AF65-F5344CB8AC3E}">
        <p14:creationId xmlns:p14="http://schemas.microsoft.com/office/powerpoint/2010/main" val="3162363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BFD41-52FA-9749-37AA-176844D11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alf Frame 5">
            <a:extLst>
              <a:ext uri="{FF2B5EF4-FFF2-40B4-BE49-F238E27FC236}">
                <a16:creationId xmlns:a16="http://schemas.microsoft.com/office/drawing/2014/main" id="{4190D59C-75DA-2346-E57A-2F71FB47EAD2}"/>
              </a:ext>
            </a:extLst>
          </p:cNvPr>
          <p:cNvSpPr/>
          <p:nvPr/>
        </p:nvSpPr>
        <p:spPr>
          <a:xfrm>
            <a:off x="-1" y="0"/>
            <a:ext cx="6695769" cy="4031226"/>
          </a:xfrm>
          <a:prstGeom prst="halfFrame">
            <a:avLst>
              <a:gd name="adj1" fmla="val 4622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6E0AF47D-BA75-7CCA-F442-A609416F8527}"/>
              </a:ext>
            </a:extLst>
          </p:cNvPr>
          <p:cNvSpPr/>
          <p:nvPr/>
        </p:nvSpPr>
        <p:spPr>
          <a:xfrm rot="16200000">
            <a:off x="1334730" y="1703435"/>
            <a:ext cx="3819833" cy="6489292"/>
          </a:xfrm>
          <a:prstGeom prst="halfFrame">
            <a:avLst>
              <a:gd name="adj1" fmla="val 5439"/>
              <a:gd name="adj2" fmla="val 594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4C178CEE-FB13-47AF-701E-EA22AC99D074}"/>
              </a:ext>
            </a:extLst>
          </p:cNvPr>
          <p:cNvSpPr/>
          <p:nvPr/>
        </p:nvSpPr>
        <p:spPr>
          <a:xfrm rot="10800000">
            <a:off x="5781368" y="2826774"/>
            <a:ext cx="6410632" cy="4031226"/>
          </a:xfrm>
          <a:prstGeom prst="halfFrame">
            <a:avLst>
              <a:gd name="adj1" fmla="val 5354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>
            <a:extLst>
              <a:ext uri="{FF2B5EF4-FFF2-40B4-BE49-F238E27FC236}">
                <a16:creationId xmlns:a16="http://schemas.microsoft.com/office/drawing/2014/main" id="{B465015C-8FB7-C8FF-940A-8D0BB188928D}"/>
              </a:ext>
            </a:extLst>
          </p:cNvPr>
          <p:cNvSpPr/>
          <p:nvPr/>
        </p:nvSpPr>
        <p:spPr>
          <a:xfrm rot="5400000">
            <a:off x="7350842" y="-1412155"/>
            <a:ext cx="3429001" cy="6253317"/>
          </a:xfrm>
          <a:prstGeom prst="halfFrame">
            <a:avLst>
              <a:gd name="adj1" fmla="val 6056"/>
              <a:gd name="adj2" fmla="val 604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EBFDD7-81C4-2D91-B4B2-6C6B51265E88}"/>
              </a:ext>
            </a:extLst>
          </p:cNvPr>
          <p:cNvSpPr txBox="1"/>
          <p:nvPr/>
        </p:nvSpPr>
        <p:spPr>
          <a:xfrm>
            <a:off x="1111045" y="308483"/>
            <a:ext cx="10415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1B6A1F-CA9E-2F84-666A-2F5D1800B55D}"/>
              </a:ext>
            </a:extLst>
          </p:cNvPr>
          <p:cNvSpPr txBox="1"/>
          <p:nvPr/>
        </p:nvSpPr>
        <p:spPr>
          <a:xfrm>
            <a:off x="758816" y="1349446"/>
            <a:ext cx="60942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 customers spend slightly more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customers slightly lower revenue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Gender-based marketing can increase profit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262858-0506-061E-FE13-5FE2DE79C240}"/>
              </a:ext>
            </a:extLst>
          </p:cNvPr>
          <p:cNvSpPr txBox="1"/>
          <p:nvPr/>
        </p:nvSpPr>
        <p:spPr>
          <a:xfrm>
            <a:off x="477731" y="764669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 Black" panose="020B0A04020102020204" pitchFamily="34" charset="0"/>
              </a:rPr>
              <a:t>REVENUE BY GENDER</a:t>
            </a:r>
          </a:p>
        </p:txBody>
      </p:sp>
    </p:spTree>
    <p:extLst>
      <p:ext uri="{BB962C8B-B14F-4D97-AF65-F5344CB8AC3E}">
        <p14:creationId xmlns:p14="http://schemas.microsoft.com/office/powerpoint/2010/main" val="2151693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393B3-FCBA-0129-7C07-24859BA19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alf Frame 5">
            <a:extLst>
              <a:ext uri="{FF2B5EF4-FFF2-40B4-BE49-F238E27FC236}">
                <a16:creationId xmlns:a16="http://schemas.microsoft.com/office/drawing/2014/main" id="{3BC0B6C9-210F-155D-C9B3-6E47CD1BA85A}"/>
              </a:ext>
            </a:extLst>
          </p:cNvPr>
          <p:cNvSpPr/>
          <p:nvPr/>
        </p:nvSpPr>
        <p:spPr>
          <a:xfrm>
            <a:off x="-1" y="0"/>
            <a:ext cx="6695769" cy="4031226"/>
          </a:xfrm>
          <a:prstGeom prst="halfFrame">
            <a:avLst>
              <a:gd name="adj1" fmla="val 4622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36549428-A0A4-88A3-C497-A3332D4391A2}"/>
              </a:ext>
            </a:extLst>
          </p:cNvPr>
          <p:cNvSpPr/>
          <p:nvPr/>
        </p:nvSpPr>
        <p:spPr>
          <a:xfrm rot="16200000">
            <a:off x="1334730" y="1703435"/>
            <a:ext cx="3819833" cy="6489292"/>
          </a:xfrm>
          <a:prstGeom prst="halfFrame">
            <a:avLst>
              <a:gd name="adj1" fmla="val 5439"/>
              <a:gd name="adj2" fmla="val 594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67AFA309-2F45-4530-CDCC-4DA3D4694DCF}"/>
              </a:ext>
            </a:extLst>
          </p:cNvPr>
          <p:cNvSpPr/>
          <p:nvPr/>
        </p:nvSpPr>
        <p:spPr>
          <a:xfrm rot="10800000">
            <a:off x="5781368" y="2826774"/>
            <a:ext cx="6410632" cy="4031226"/>
          </a:xfrm>
          <a:prstGeom prst="halfFrame">
            <a:avLst>
              <a:gd name="adj1" fmla="val 5354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>
            <a:extLst>
              <a:ext uri="{FF2B5EF4-FFF2-40B4-BE49-F238E27FC236}">
                <a16:creationId xmlns:a16="http://schemas.microsoft.com/office/drawing/2014/main" id="{26C752AA-D3BD-E080-9DF3-1853D3A5C082}"/>
              </a:ext>
            </a:extLst>
          </p:cNvPr>
          <p:cNvSpPr/>
          <p:nvPr/>
        </p:nvSpPr>
        <p:spPr>
          <a:xfrm rot="5400000">
            <a:off x="7350842" y="-1412155"/>
            <a:ext cx="3429001" cy="6253317"/>
          </a:xfrm>
          <a:prstGeom prst="halfFrame">
            <a:avLst>
              <a:gd name="adj1" fmla="val 6056"/>
              <a:gd name="adj2" fmla="val 604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4F679F-3353-692E-E2AC-DF2E2B026041}"/>
              </a:ext>
            </a:extLst>
          </p:cNvPr>
          <p:cNvSpPr txBox="1"/>
          <p:nvPr/>
        </p:nvSpPr>
        <p:spPr>
          <a:xfrm>
            <a:off x="1111045" y="308483"/>
            <a:ext cx="10415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197BF0-D7E0-A25C-74F0-CDFD486A3C06}"/>
              </a:ext>
            </a:extLst>
          </p:cNvPr>
          <p:cNvSpPr txBox="1"/>
          <p:nvPr/>
        </p:nvSpPr>
        <p:spPr>
          <a:xfrm>
            <a:off x="916999" y="1391892"/>
            <a:ext cx="609426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who spend more + use discounts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shoppers = high opportunity segment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3D31D0-BDD7-1CD3-A552-85553371E054}"/>
              </a:ext>
            </a:extLst>
          </p:cNvPr>
          <p:cNvSpPr txBox="1"/>
          <p:nvPr/>
        </p:nvSpPr>
        <p:spPr>
          <a:xfrm>
            <a:off x="446074" y="828613"/>
            <a:ext cx="88746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 Black" panose="020B0A04020102020204" pitchFamily="34" charset="0"/>
              </a:rPr>
              <a:t>HIGH-VALUE DISCOUNT USERS</a:t>
            </a:r>
          </a:p>
        </p:txBody>
      </p:sp>
    </p:spTree>
    <p:extLst>
      <p:ext uri="{BB962C8B-B14F-4D97-AF65-F5344CB8AC3E}">
        <p14:creationId xmlns:p14="http://schemas.microsoft.com/office/powerpoint/2010/main" val="1477876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ABD19-C185-B889-7413-7BFFF3B4A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alf Frame 5">
            <a:extLst>
              <a:ext uri="{FF2B5EF4-FFF2-40B4-BE49-F238E27FC236}">
                <a16:creationId xmlns:a16="http://schemas.microsoft.com/office/drawing/2014/main" id="{2409074F-4166-AEB9-540C-ED1061FA880C}"/>
              </a:ext>
            </a:extLst>
          </p:cNvPr>
          <p:cNvSpPr/>
          <p:nvPr/>
        </p:nvSpPr>
        <p:spPr>
          <a:xfrm>
            <a:off x="-1" y="0"/>
            <a:ext cx="6695769" cy="4031226"/>
          </a:xfrm>
          <a:prstGeom prst="halfFrame">
            <a:avLst>
              <a:gd name="adj1" fmla="val 4622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A28F5501-7772-CB82-9A0F-C567E3CDB536}"/>
              </a:ext>
            </a:extLst>
          </p:cNvPr>
          <p:cNvSpPr/>
          <p:nvPr/>
        </p:nvSpPr>
        <p:spPr>
          <a:xfrm rot="16200000">
            <a:off x="1334730" y="1703435"/>
            <a:ext cx="3819833" cy="6489292"/>
          </a:xfrm>
          <a:prstGeom prst="halfFrame">
            <a:avLst>
              <a:gd name="adj1" fmla="val 5439"/>
              <a:gd name="adj2" fmla="val 594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BA65439A-F261-698A-0604-212043782586}"/>
              </a:ext>
            </a:extLst>
          </p:cNvPr>
          <p:cNvSpPr/>
          <p:nvPr/>
        </p:nvSpPr>
        <p:spPr>
          <a:xfrm rot="10800000">
            <a:off x="5781368" y="2826774"/>
            <a:ext cx="6410632" cy="4031226"/>
          </a:xfrm>
          <a:prstGeom prst="halfFrame">
            <a:avLst>
              <a:gd name="adj1" fmla="val 5354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>
            <a:extLst>
              <a:ext uri="{FF2B5EF4-FFF2-40B4-BE49-F238E27FC236}">
                <a16:creationId xmlns:a16="http://schemas.microsoft.com/office/drawing/2014/main" id="{4DFE7336-296D-5E5C-09BF-4C4F58E5F044}"/>
              </a:ext>
            </a:extLst>
          </p:cNvPr>
          <p:cNvSpPr/>
          <p:nvPr/>
        </p:nvSpPr>
        <p:spPr>
          <a:xfrm rot="5400000">
            <a:off x="7350842" y="-1412155"/>
            <a:ext cx="3429001" cy="6253317"/>
          </a:xfrm>
          <a:prstGeom prst="halfFrame">
            <a:avLst>
              <a:gd name="adj1" fmla="val 6056"/>
              <a:gd name="adj2" fmla="val 604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22D71F-E836-0C1C-E557-6E859B910669}"/>
              </a:ext>
            </a:extLst>
          </p:cNvPr>
          <p:cNvSpPr txBox="1"/>
          <p:nvPr/>
        </p:nvSpPr>
        <p:spPr>
          <a:xfrm>
            <a:off x="1111045" y="308483"/>
            <a:ext cx="10415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AD76E4-E83A-184C-B273-AC37BEE60869}"/>
              </a:ext>
            </a:extLst>
          </p:cNvPr>
          <p:cNvSpPr txBox="1"/>
          <p:nvPr/>
        </p:nvSpPr>
        <p:spPr>
          <a:xfrm>
            <a:off x="601500" y="959254"/>
            <a:ext cx="60942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Blouse ⭐⭐⭐⭐⭐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Dress ⭐⭐⭐⭐⭐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Shirt ⭐⭐⭐⭐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960A2E-3A48-2101-ABD5-D8ABFB55C5FC}"/>
              </a:ext>
            </a:extLst>
          </p:cNvPr>
          <p:cNvSpPr txBox="1"/>
          <p:nvPr/>
        </p:nvSpPr>
        <p:spPr>
          <a:xfrm>
            <a:off x="601500" y="538287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 Black" panose="020B0A04020102020204" pitchFamily="34" charset="0"/>
              </a:rPr>
              <a:t>TOP RATED PRODUCTS</a:t>
            </a:r>
          </a:p>
        </p:txBody>
      </p:sp>
      <p:pic>
        <p:nvPicPr>
          <p:cNvPr id="10" name="Image 0">
            <a:extLst>
              <a:ext uri="{FF2B5EF4-FFF2-40B4-BE49-F238E27FC236}">
                <a16:creationId xmlns:a16="http://schemas.microsoft.com/office/drawing/2014/main" id="{A74CD391-E8B1-C7BD-9EBB-0E8B40BDC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495000"/>
            <a:ext cx="11731336" cy="307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43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48841-5B39-5807-7CD6-6914F58A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alf Frame 5">
            <a:extLst>
              <a:ext uri="{FF2B5EF4-FFF2-40B4-BE49-F238E27FC236}">
                <a16:creationId xmlns:a16="http://schemas.microsoft.com/office/drawing/2014/main" id="{866342E2-9EE9-CA32-5A81-3B0F21DC11B6}"/>
              </a:ext>
            </a:extLst>
          </p:cNvPr>
          <p:cNvSpPr/>
          <p:nvPr/>
        </p:nvSpPr>
        <p:spPr>
          <a:xfrm>
            <a:off x="-1" y="0"/>
            <a:ext cx="6695769" cy="4031226"/>
          </a:xfrm>
          <a:prstGeom prst="halfFrame">
            <a:avLst>
              <a:gd name="adj1" fmla="val 4622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8DB40F81-AA44-0F4D-B80E-905806704C6F}"/>
              </a:ext>
            </a:extLst>
          </p:cNvPr>
          <p:cNvSpPr/>
          <p:nvPr/>
        </p:nvSpPr>
        <p:spPr>
          <a:xfrm rot="16200000">
            <a:off x="1334730" y="1703435"/>
            <a:ext cx="3819833" cy="6489292"/>
          </a:xfrm>
          <a:prstGeom prst="halfFrame">
            <a:avLst>
              <a:gd name="adj1" fmla="val 5439"/>
              <a:gd name="adj2" fmla="val 594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8DCC0F93-C158-373D-B5A1-38F9F6E67E8C}"/>
              </a:ext>
            </a:extLst>
          </p:cNvPr>
          <p:cNvSpPr/>
          <p:nvPr/>
        </p:nvSpPr>
        <p:spPr>
          <a:xfrm rot="10800000">
            <a:off x="5781368" y="2826774"/>
            <a:ext cx="6410632" cy="4031226"/>
          </a:xfrm>
          <a:prstGeom prst="halfFrame">
            <a:avLst>
              <a:gd name="adj1" fmla="val 5354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>
            <a:extLst>
              <a:ext uri="{FF2B5EF4-FFF2-40B4-BE49-F238E27FC236}">
                <a16:creationId xmlns:a16="http://schemas.microsoft.com/office/drawing/2014/main" id="{5EA0F8C2-46A3-8CCA-DD3A-B1C4DFBE4A08}"/>
              </a:ext>
            </a:extLst>
          </p:cNvPr>
          <p:cNvSpPr/>
          <p:nvPr/>
        </p:nvSpPr>
        <p:spPr>
          <a:xfrm rot="5400000">
            <a:off x="7350842" y="-1412155"/>
            <a:ext cx="3429001" cy="6253317"/>
          </a:xfrm>
          <a:prstGeom prst="halfFrame">
            <a:avLst>
              <a:gd name="adj1" fmla="val 6056"/>
              <a:gd name="adj2" fmla="val 604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4B2C8C-BB1F-0688-4B26-62657278964A}"/>
              </a:ext>
            </a:extLst>
          </p:cNvPr>
          <p:cNvSpPr txBox="1"/>
          <p:nvPr/>
        </p:nvSpPr>
        <p:spPr>
          <a:xfrm>
            <a:off x="1111045" y="308483"/>
            <a:ext cx="10415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C26D14-D730-E31F-A4F3-C49BB14A4574}"/>
              </a:ext>
            </a:extLst>
          </p:cNvPr>
          <p:cNvSpPr txBox="1"/>
          <p:nvPr/>
        </p:nvSpPr>
        <p:spPr>
          <a:xfrm>
            <a:off x="868508" y="1594317"/>
            <a:ext cx="609426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Express: </a:t>
            </a:r>
            <a:r>
              <a:rPr lang="en-US" sz="2000" b="1" dirty="0"/>
              <a:t>$65 avg purchase</a:t>
            </a:r>
            <a:r>
              <a:rPr lang="en-US" sz="20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Standard: </a:t>
            </a:r>
            <a:r>
              <a:rPr lang="en-US" sz="2000" b="1" dirty="0"/>
              <a:t>$58 avg purchase</a:t>
            </a:r>
            <a:r>
              <a:rPr lang="en-US" sz="20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/>
              <a:t>Insight: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 Express users spend more (12% higher)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D67EA6-1614-5ABF-99DF-1E525DB03DA4}"/>
              </a:ext>
            </a:extLst>
          </p:cNvPr>
          <p:cNvSpPr txBox="1"/>
          <p:nvPr/>
        </p:nvSpPr>
        <p:spPr>
          <a:xfrm>
            <a:off x="601500" y="740721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 Black" panose="020B0A04020102020204" pitchFamily="34" charset="0"/>
              </a:rPr>
              <a:t>SHIPPING IMPACT</a:t>
            </a:r>
          </a:p>
        </p:txBody>
      </p:sp>
    </p:spTree>
    <p:extLst>
      <p:ext uri="{BB962C8B-B14F-4D97-AF65-F5344CB8AC3E}">
        <p14:creationId xmlns:p14="http://schemas.microsoft.com/office/powerpoint/2010/main" val="4008220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C2264-00EB-8B7B-1174-DD5C35930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alf Frame 5">
            <a:extLst>
              <a:ext uri="{FF2B5EF4-FFF2-40B4-BE49-F238E27FC236}">
                <a16:creationId xmlns:a16="http://schemas.microsoft.com/office/drawing/2014/main" id="{E7650522-D6DA-3CD4-BD26-2643E36F4370}"/>
              </a:ext>
            </a:extLst>
          </p:cNvPr>
          <p:cNvSpPr/>
          <p:nvPr/>
        </p:nvSpPr>
        <p:spPr>
          <a:xfrm>
            <a:off x="-1" y="0"/>
            <a:ext cx="6695769" cy="4031226"/>
          </a:xfrm>
          <a:prstGeom prst="halfFrame">
            <a:avLst>
              <a:gd name="adj1" fmla="val 4622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0F0E64E5-FB4D-31B4-1682-4B26C5F17645}"/>
              </a:ext>
            </a:extLst>
          </p:cNvPr>
          <p:cNvSpPr/>
          <p:nvPr/>
        </p:nvSpPr>
        <p:spPr>
          <a:xfrm rot="16200000">
            <a:off x="1334730" y="1703435"/>
            <a:ext cx="3819833" cy="6489292"/>
          </a:xfrm>
          <a:prstGeom prst="halfFrame">
            <a:avLst>
              <a:gd name="adj1" fmla="val 5439"/>
              <a:gd name="adj2" fmla="val 594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A4DBB3E0-8B02-1124-F3D2-502EA95B1CA9}"/>
              </a:ext>
            </a:extLst>
          </p:cNvPr>
          <p:cNvSpPr/>
          <p:nvPr/>
        </p:nvSpPr>
        <p:spPr>
          <a:xfrm rot="10800000">
            <a:off x="5781368" y="2826774"/>
            <a:ext cx="6410632" cy="4031226"/>
          </a:xfrm>
          <a:prstGeom prst="halfFrame">
            <a:avLst>
              <a:gd name="adj1" fmla="val 5354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>
            <a:extLst>
              <a:ext uri="{FF2B5EF4-FFF2-40B4-BE49-F238E27FC236}">
                <a16:creationId xmlns:a16="http://schemas.microsoft.com/office/drawing/2014/main" id="{A5B33B01-F5EC-7A2C-8BE5-7E0BE040564B}"/>
              </a:ext>
            </a:extLst>
          </p:cNvPr>
          <p:cNvSpPr/>
          <p:nvPr/>
        </p:nvSpPr>
        <p:spPr>
          <a:xfrm rot="5400000">
            <a:off x="7350842" y="-1412155"/>
            <a:ext cx="3429001" cy="6253317"/>
          </a:xfrm>
          <a:prstGeom prst="halfFrame">
            <a:avLst>
              <a:gd name="adj1" fmla="val 6056"/>
              <a:gd name="adj2" fmla="val 604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04BF24-5DC8-15DA-8BD0-4690FC7044AF}"/>
              </a:ext>
            </a:extLst>
          </p:cNvPr>
          <p:cNvSpPr txBox="1"/>
          <p:nvPr/>
        </p:nvSpPr>
        <p:spPr>
          <a:xfrm>
            <a:off x="1111045" y="308483"/>
            <a:ext cx="10415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A2B8A8-56B5-369A-98B3-4F4666B96D15}"/>
              </a:ext>
            </a:extLst>
          </p:cNvPr>
          <p:cNvSpPr txBox="1"/>
          <p:nvPr/>
        </p:nvSpPr>
        <p:spPr>
          <a:xfrm>
            <a:off x="1111045" y="1438085"/>
            <a:ext cx="60942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68% higher spending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45% revenue from subscribers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78% repeat purchases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Subscription = high loyalty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AC735C-2568-3198-8806-2F6EB9C30750}"/>
              </a:ext>
            </a:extLst>
          </p:cNvPr>
          <p:cNvSpPr txBox="1"/>
          <p:nvPr/>
        </p:nvSpPr>
        <p:spPr>
          <a:xfrm>
            <a:off x="446074" y="641920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 Black" panose="020B0A04020102020204" pitchFamily="34" charset="0"/>
              </a:rPr>
              <a:t>SUBSCRIPTION IMPACT</a:t>
            </a:r>
          </a:p>
        </p:txBody>
      </p:sp>
    </p:spTree>
    <p:extLst>
      <p:ext uri="{BB962C8B-B14F-4D97-AF65-F5344CB8AC3E}">
        <p14:creationId xmlns:p14="http://schemas.microsoft.com/office/powerpoint/2010/main" val="3212661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9DBB0-4519-BDC8-A974-E8913B6D8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alf Frame 5">
            <a:extLst>
              <a:ext uri="{FF2B5EF4-FFF2-40B4-BE49-F238E27FC236}">
                <a16:creationId xmlns:a16="http://schemas.microsoft.com/office/drawing/2014/main" id="{3DCDDF01-8F75-DFA9-664E-2420795F4200}"/>
              </a:ext>
            </a:extLst>
          </p:cNvPr>
          <p:cNvSpPr/>
          <p:nvPr/>
        </p:nvSpPr>
        <p:spPr>
          <a:xfrm>
            <a:off x="-1" y="0"/>
            <a:ext cx="6695769" cy="4031226"/>
          </a:xfrm>
          <a:prstGeom prst="halfFrame">
            <a:avLst>
              <a:gd name="adj1" fmla="val 4622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5353861D-128C-CE0E-BC33-7E636EF26CF2}"/>
              </a:ext>
            </a:extLst>
          </p:cNvPr>
          <p:cNvSpPr/>
          <p:nvPr/>
        </p:nvSpPr>
        <p:spPr>
          <a:xfrm rot="16200000">
            <a:off x="1334730" y="1703435"/>
            <a:ext cx="3819833" cy="6489292"/>
          </a:xfrm>
          <a:prstGeom prst="halfFrame">
            <a:avLst>
              <a:gd name="adj1" fmla="val 5439"/>
              <a:gd name="adj2" fmla="val 594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E52CE9CC-EAA5-843E-9D26-F58FC2A46F9C}"/>
              </a:ext>
            </a:extLst>
          </p:cNvPr>
          <p:cNvSpPr/>
          <p:nvPr/>
        </p:nvSpPr>
        <p:spPr>
          <a:xfrm rot="10800000">
            <a:off x="5781368" y="2826774"/>
            <a:ext cx="6410632" cy="4031226"/>
          </a:xfrm>
          <a:prstGeom prst="halfFrame">
            <a:avLst>
              <a:gd name="adj1" fmla="val 5354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>
            <a:extLst>
              <a:ext uri="{FF2B5EF4-FFF2-40B4-BE49-F238E27FC236}">
                <a16:creationId xmlns:a16="http://schemas.microsoft.com/office/drawing/2014/main" id="{74C5EE3C-B565-7656-429E-45B05D130D25}"/>
              </a:ext>
            </a:extLst>
          </p:cNvPr>
          <p:cNvSpPr/>
          <p:nvPr/>
        </p:nvSpPr>
        <p:spPr>
          <a:xfrm rot="5400000">
            <a:off x="7350842" y="-1412155"/>
            <a:ext cx="3429001" cy="6253317"/>
          </a:xfrm>
          <a:prstGeom prst="halfFrame">
            <a:avLst>
              <a:gd name="adj1" fmla="val 6056"/>
              <a:gd name="adj2" fmla="val 604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894728-3CD7-1B1B-DE34-D77F4DAB8290}"/>
              </a:ext>
            </a:extLst>
          </p:cNvPr>
          <p:cNvSpPr txBox="1"/>
          <p:nvPr/>
        </p:nvSpPr>
        <p:spPr>
          <a:xfrm>
            <a:off x="573375" y="1197624"/>
            <a:ext cx="10415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200" b="1" dirty="0">
                <a:latin typeface="Arial Black" panose="020B0A04020102020204" pitchFamily="34" charset="0"/>
              </a:rPr>
              <a:t>CUSTOMER SEGMENTATION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4B276E-0199-BE17-0BC6-00D71636E035}"/>
              </a:ext>
            </a:extLst>
          </p:cNvPr>
          <p:cNvSpPr txBox="1"/>
          <p:nvPr/>
        </p:nvSpPr>
        <p:spPr>
          <a:xfrm>
            <a:off x="989734" y="1962973"/>
            <a:ext cx="60942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Loyal: 15%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Returning: 35%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New: 50%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New → Returning → Loyal</a:t>
            </a:r>
          </a:p>
        </p:txBody>
      </p:sp>
    </p:spTree>
    <p:extLst>
      <p:ext uri="{BB962C8B-B14F-4D97-AF65-F5344CB8AC3E}">
        <p14:creationId xmlns:p14="http://schemas.microsoft.com/office/powerpoint/2010/main" val="2666726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AF2A0-7C10-4BE8-BB3B-40BB59206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alf Frame 5">
            <a:extLst>
              <a:ext uri="{FF2B5EF4-FFF2-40B4-BE49-F238E27FC236}">
                <a16:creationId xmlns:a16="http://schemas.microsoft.com/office/drawing/2014/main" id="{F2E61F3D-1F55-80B6-AB22-0A773B988988}"/>
              </a:ext>
            </a:extLst>
          </p:cNvPr>
          <p:cNvSpPr/>
          <p:nvPr/>
        </p:nvSpPr>
        <p:spPr>
          <a:xfrm>
            <a:off x="-1" y="0"/>
            <a:ext cx="6695769" cy="4031226"/>
          </a:xfrm>
          <a:prstGeom prst="halfFrame">
            <a:avLst>
              <a:gd name="adj1" fmla="val 4622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12A2E843-C1B0-F697-C66F-793E934446CE}"/>
              </a:ext>
            </a:extLst>
          </p:cNvPr>
          <p:cNvSpPr/>
          <p:nvPr/>
        </p:nvSpPr>
        <p:spPr>
          <a:xfrm rot="16200000">
            <a:off x="1334730" y="1703435"/>
            <a:ext cx="3819833" cy="6489292"/>
          </a:xfrm>
          <a:prstGeom prst="halfFrame">
            <a:avLst>
              <a:gd name="adj1" fmla="val 5439"/>
              <a:gd name="adj2" fmla="val 594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DB56A18C-B511-2BC3-BA0F-D2B7DD1D9DEF}"/>
              </a:ext>
            </a:extLst>
          </p:cNvPr>
          <p:cNvSpPr/>
          <p:nvPr/>
        </p:nvSpPr>
        <p:spPr>
          <a:xfrm rot="10800000">
            <a:off x="5781368" y="2826774"/>
            <a:ext cx="6410632" cy="4031226"/>
          </a:xfrm>
          <a:prstGeom prst="halfFrame">
            <a:avLst>
              <a:gd name="adj1" fmla="val 5354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>
            <a:extLst>
              <a:ext uri="{FF2B5EF4-FFF2-40B4-BE49-F238E27FC236}">
                <a16:creationId xmlns:a16="http://schemas.microsoft.com/office/drawing/2014/main" id="{96A1355C-9529-86D0-B619-427D4B296F89}"/>
              </a:ext>
            </a:extLst>
          </p:cNvPr>
          <p:cNvSpPr/>
          <p:nvPr/>
        </p:nvSpPr>
        <p:spPr>
          <a:xfrm rot="5400000">
            <a:off x="7350842" y="-1412155"/>
            <a:ext cx="3429001" cy="6253317"/>
          </a:xfrm>
          <a:prstGeom prst="halfFrame">
            <a:avLst>
              <a:gd name="adj1" fmla="val 6056"/>
              <a:gd name="adj2" fmla="val 604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120F49-FCCC-91F8-2993-8BC87A3095C1}"/>
              </a:ext>
            </a:extLst>
          </p:cNvPr>
          <p:cNvSpPr txBox="1"/>
          <p:nvPr/>
        </p:nvSpPr>
        <p:spPr>
          <a:xfrm>
            <a:off x="1111045" y="308483"/>
            <a:ext cx="10415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6F3C3-CF91-D629-C627-08E3B2D212D1}"/>
              </a:ext>
            </a:extLst>
          </p:cNvPr>
          <p:cNvSpPr txBox="1"/>
          <p:nvPr/>
        </p:nvSpPr>
        <p:spPr>
          <a:xfrm>
            <a:off x="477731" y="722917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 Black" panose="020B0A04020102020204" pitchFamily="34" charset="0"/>
              </a:rPr>
              <a:t>DASHBOARD (POWER BI)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08C29B-5B8D-5D24-6102-85EA018CF419}"/>
              </a:ext>
            </a:extLst>
          </p:cNvPr>
          <p:cNvSpPr txBox="1"/>
          <p:nvPr/>
        </p:nvSpPr>
        <p:spPr>
          <a:xfrm>
            <a:off x="758816" y="1398351"/>
            <a:ext cx="60942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Interactive charts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KPI tracking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Filters for analysis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8803FF-C2CF-821F-8708-AF9661177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44" y="2412337"/>
            <a:ext cx="11530891" cy="403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361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32C2E-D3CB-B7A5-3D7B-02C7BF056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alf Frame 5">
            <a:extLst>
              <a:ext uri="{FF2B5EF4-FFF2-40B4-BE49-F238E27FC236}">
                <a16:creationId xmlns:a16="http://schemas.microsoft.com/office/drawing/2014/main" id="{1E84B3B5-75C1-F766-ADA0-3BE3933E2DAE}"/>
              </a:ext>
            </a:extLst>
          </p:cNvPr>
          <p:cNvSpPr/>
          <p:nvPr/>
        </p:nvSpPr>
        <p:spPr>
          <a:xfrm>
            <a:off x="-1" y="0"/>
            <a:ext cx="6695769" cy="4031226"/>
          </a:xfrm>
          <a:prstGeom prst="halfFrame">
            <a:avLst>
              <a:gd name="adj1" fmla="val 4622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7812AF61-2A6E-0DF6-447C-F7042FE1EDEE}"/>
              </a:ext>
            </a:extLst>
          </p:cNvPr>
          <p:cNvSpPr/>
          <p:nvPr/>
        </p:nvSpPr>
        <p:spPr>
          <a:xfrm rot="16200000">
            <a:off x="1334730" y="1703435"/>
            <a:ext cx="3819833" cy="6489292"/>
          </a:xfrm>
          <a:prstGeom prst="halfFrame">
            <a:avLst>
              <a:gd name="adj1" fmla="val 5439"/>
              <a:gd name="adj2" fmla="val 594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2372EE2C-EC10-4258-1DE8-B27125F4A2A7}"/>
              </a:ext>
            </a:extLst>
          </p:cNvPr>
          <p:cNvSpPr/>
          <p:nvPr/>
        </p:nvSpPr>
        <p:spPr>
          <a:xfrm rot="10800000">
            <a:off x="5781368" y="2826774"/>
            <a:ext cx="6410632" cy="4031226"/>
          </a:xfrm>
          <a:prstGeom prst="halfFrame">
            <a:avLst>
              <a:gd name="adj1" fmla="val 5354"/>
              <a:gd name="adj2" fmla="val 4852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Half Frame 8">
            <a:extLst>
              <a:ext uri="{FF2B5EF4-FFF2-40B4-BE49-F238E27FC236}">
                <a16:creationId xmlns:a16="http://schemas.microsoft.com/office/drawing/2014/main" id="{001F03E5-E118-5B6F-6B7D-6D8DDD343301}"/>
              </a:ext>
            </a:extLst>
          </p:cNvPr>
          <p:cNvSpPr/>
          <p:nvPr/>
        </p:nvSpPr>
        <p:spPr>
          <a:xfrm rot="5400000">
            <a:off x="7350842" y="-1412155"/>
            <a:ext cx="3429001" cy="6253317"/>
          </a:xfrm>
          <a:prstGeom prst="halfFrame">
            <a:avLst>
              <a:gd name="adj1" fmla="val 6056"/>
              <a:gd name="adj2" fmla="val 604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73A869-C762-F7F7-29A9-41D11D46742E}"/>
              </a:ext>
            </a:extLst>
          </p:cNvPr>
          <p:cNvSpPr txBox="1"/>
          <p:nvPr/>
        </p:nvSpPr>
        <p:spPr>
          <a:xfrm>
            <a:off x="1111045" y="308483"/>
            <a:ext cx="10415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6767A7-9EB6-60FF-6BF7-54F15894ED85}"/>
              </a:ext>
            </a:extLst>
          </p:cNvPr>
          <p:cNvSpPr/>
          <p:nvPr/>
        </p:nvSpPr>
        <p:spPr>
          <a:xfrm>
            <a:off x="2742914" y="2146967"/>
            <a:ext cx="7492757" cy="156966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THANK YOU !</a:t>
            </a:r>
            <a:endParaRPr lang="en-US" sz="96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850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</TotalTime>
  <Words>256</Words>
  <Application>Microsoft Office PowerPoint</Application>
  <PresentationFormat>Widescreen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Algerian</vt:lpstr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karan kumar</dc:creator>
  <cp:lastModifiedBy>karan kumar</cp:lastModifiedBy>
  <cp:revision>3</cp:revision>
  <dcterms:created xsi:type="dcterms:W3CDTF">2026-04-22T06:05:53Z</dcterms:created>
  <dcterms:modified xsi:type="dcterms:W3CDTF">2026-05-04T17:00:09Z</dcterms:modified>
</cp:coreProperties>
</file>